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Indexed relative cost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FATHOM</c:v>
                  </c:pt>
                  <c:pt idx="1">
                    <c:v>pgAdmin / DBeaver (OSS)</c:v>
                  </c:pt>
                  <c:pt idx="2">
                    <c:v>TablePlus</c:v>
                  </c:pt>
                  <c:pt idx="3">
                    <c:v>Sentry</c:v>
                  </c:pt>
                  <c:pt idx="4">
                    <c:v>pganalyze</c:v>
                  </c:pt>
                  <c:pt idx="5">
                    <c:v>New Relic</c:v>
                  </c:pt>
                  <c:pt idx="6">
                    <c:v>DataGrip</c:v>
                  </c:pt>
                  <c:pt idx="7">
                    <c:v>SolarWinds DPA</c:v>
                  </c:pt>
                  <c:pt idx="8">
                    <c:v>Datadog DBM+APM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4</c:v>
                </c:pt>
                <c:pt idx="6">
                  <c:v>3</c:v>
                </c:pt>
                <c:pt idx="7">
                  <c:v>5</c:v>
                </c:pt>
                <c:pt idx="8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1188720"/>
            <a:ext cx="128016" cy="128016"/>
          </a:xfrm>
          <a:prstGeom prst="ellipse">
            <a:avLst/>
          </a:prstGeom>
          <a:solidFill>
            <a:srgbClr val="00A896">
              <a:alpha val="5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78440" y="1188720"/>
            <a:ext cx="128016" cy="128016"/>
          </a:xfrm>
          <a:prstGeom prst="ellipse">
            <a:avLst/>
          </a:prstGeom>
          <a:solidFill>
            <a:srgbClr val="00A896">
              <a:alpha val="5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0" y="1188720"/>
            <a:ext cx="128016" cy="128016"/>
          </a:xfrm>
          <a:prstGeom prst="ellipse">
            <a:avLst/>
          </a:prstGeom>
          <a:solidFill>
            <a:srgbClr val="00A896">
              <a:alpha val="5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0" y="1508760"/>
            <a:ext cx="128016" cy="128016"/>
          </a:xfrm>
          <a:prstGeom prst="ellipse">
            <a:avLst/>
          </a:prstGeom>
          <a:solidFill>
            <a:srgbClr val="00A896">
              <a:alpha val="4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378440" y="1508760"/>
            <a:ext cx="128016" cy="128016"/>
          </a:xfrm>
          <a:prstGeom prst="ellipse">
            <a:avLst/>
          </a:prstGeom>
          <a:solidFill>
            <a:srgbClr val="00A896">
              <a:alpha val="4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98480" y="1508760"/>
            <a:ext cx="128016" cy="128016"/>
          </a:xfrm>
          <a:prstGeom prst="ellipse">
            <a:avLst/>
          </a:prstGeom>
          <a:solidFill>
            <a:srgbClr val="00A896">
              <a:alpha val="4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0" y="1828800"/>
            <a:ext cx="128016" cy="128016"/>
          </a:xfrm>
          <a:prstGeom prst="ellipse">
            <a:avLst/>
          </a:prstGeom>
          <a:solidFill>
            <a:srgbClr val="00A896">
              <a:alpha val="3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78440" y="1828800"/>
            <a:ext cx="128016" cy="128016"/>
          </a:xfrm>
          <a:prstGeom prst="ellipse">
            <a:avLst/>
          </a:prstGeom>
          <a:solidFill>
            <a:srgbClr val="00A896">
              <a:alpha val="3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98480" y="1828800"/>
            <a:ext cx="128016" cy="128016"/>
          </a:xfrm>
          <a:prstGeom prst="ellipse">
            <a:avLst/>
          </a:prstGeom>
          <a:solidFill>
            <a:srgbClr val="00A896">
              <a:alpha val="3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0" y="2148840"/>
            <a:ext cx="128016" cy="128016"/>
          </a:xfrm>
          <a:prstGeom prst="ellipse">
            <a:avLst/>
          </a:prstGeom>
          <a:solidFill>
            <a:srgbClr val="00A896">
              <a:alpha val="2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378440" y="2148840"/>
            <a:ext cx="128016" cy="128016"/>
          </a:xfrm>
          <a:prstGeom prst="ellipse">
            <a:avLst/>
          </a:prstGeom>
          <a:solidFill>
            <a:srgbClr val="00A896">
              <a:alpha val="2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698480" y="2148840"/>
            <a:ext cx="128016" cy="128016"/>
          </a:xfrm>
          <a:prstGeom prst="ellipse">
            <a:avLst/>
          </a:prstGeom>
          <a:solidFill>
            <a:srgbClr val="00A896">
              <a:alpha val="2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1463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192024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FATHOM vs. the Market</a:t>
            </a:r>
            <a:endParaRPr lang="en-US" sz="5400" dirty="0"/>
          </a:p>
        </p:txBody>
      </p:sp>
      <p:sp>
        <p:nvSpPr>
          <p:cNvPr id="17" name="Text 15"/>
          <p:cNvSpPr/>
          <p:nvPr/>
        </p:nvSpPr>
        <p:spPr>
          <a:xfrm>
            <a:off x="822960" y="329184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FATHOM compares to database monitoring, database admin, and application observability tools — across features, fit, and gaps.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22960" y="4937760"/>
            <a:ext cx="274320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5120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internal review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FATHOM 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430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pane of glass for your databases — and the apps that hit them.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56692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FATHOM is a multi-tenant, SaaS-style operator console.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unifies live database metrics, alerting, schema exploration, and query tooling over PostgreSQL, MySQL/MariaDB, and MongoDB — then extends that surface with a lightweight SDK so customer applications can stream their own API logs, errors, and audit events into the same dashboard.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is a product that sits at the intersection of three traditionally separate categories: DB monitoring, DB admin GUIs, and application observability.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675120" y="1920240"/>
            <a:ext cx="25146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48272" y="1993392"/>
            <a:ext cx="310896" cy="310896"/>
          </a:xfrm>
          <a:prstGeom prst="ellipse">
            <a:avLst/>
          </a:prstGeom>
          <a:solidFill>
            <a:srgbClr val="E6F2F4"/>
          </a:solidFill>
          <a:ln w="12700">
            <a:solidFill>
              <a:srgbClr val="E6F2F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0" y="2057400"/>
            <a:ext cx="182880" cy="182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132320" y="1920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Multi-DB: Postgres · MySQL · MongoDB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9326880" y="1920240"/>
            <a:ext cx="25146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400032" y="1993392"/>
            <a:ext cx="310896" cy="310896"/>
          </a:xfrm>
          <a:prstGeom prst="ellipse">
            <a:avLst/>
          </a:prstGeom>
          <a:solidFill>
            <a:srgbClr val="E6F2F4"/>
          </a:solidFill>
          <a:ln w="12700">
            <a:solidFill>
              <a:srgbClr val="E6F2F4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2057400"/>
            <a:ext cx="182880" cy="1828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784080" y="1920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metrics &amp; WebSocket streaming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675120" y="2487168"/>
            <a:ext cx="25146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748272" y="2560320"/>
            <a:ext cx="310896" cy="310896"/>
          </a:xfrm>
          <a:prstGeom prst="ellipse">
            <a:avLst/>
          </a:prstGeom>
          <a:solidFill>
            <a:srgbClr val="E6F2F4"/>
          </a:solidFill>
          <a:ln w="12700">
            <a:solidFill>
              <a:srgbClr val="E6F2F4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2624328"/>
            <a:ext cx="182880" cy="1828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132320" y="24871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 with scheduled monitoring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9326880" y="2487168"/>
            <a:ext cx="25146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400032" y="2560320"/>
            <a:ext cx="310896" cy="310896"/>
          </a:xfrm>
          <a:prstGeom prst="ellipse">
            <a:avLst/>
          </a:prstGeom>
          <a:solidFill>
            <a:srgbClr val="E6F2F4"/>
          </a:solidFill>
          <a:ln w="12700">
            <a:solidFill>
              <a:srgbClr val="E6F2F4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2624328"/>
            <a:ext cx="182880" cy="1828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784080" y="24871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&amp; query explorer (CodeMirror)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6675120" y="3054096"/>
            <a:ext cx="25146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6748272" y="3127248"/>
            <a:ext cx="310896" cy="310896"/>
          </a:xfrm>
          <a:prstGeom prst="ellipse">
            <a:avLst/>
          </a:prstGeom>
          <a:solidFill>
            <a:srgbClr val="E6F2F4"/>
          </a:solidFill>
          <a:ln w="12700">
            <a:solidFill>
              <a:srgbClr val="E6F2F4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280" y="3191256"/>
            <a:ext cx="182880" cy="18288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132320" y="305409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for app log / error / audit ingest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9326880" y="3054096"/>
            <a:ext cx="25146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9400032" y="3127248"/>
            <a:ext cx="310896" cy="310896"/>
          </a:xfrm>
          <a:prstGeom prst="ellipse">
            <a:avLst/>
          </a:prstGeom>
          <a:solidFill>
            <a:srgbClr val="E6F2F4"/>
          </a:solidFill>
          <a:ln w="12700">
            <a:solidFill>
              <a:srgbClr val="E6F2F4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4040" y="3191256"/>
            <a:ext cx="182880" cy="18288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9784080" y="305409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Connectors: Salesforce, MuleSoft, DBs</a:t>
            </a:r>
            <a:endParaRPr lang="en-US" sz="1050" dirty="0"/>
          </a:p>
        </p:txBody>
      </p:sp>
      <p:sp>
        <p:nvSpPr>
          <p:cNvPr id="30" name="Shape 22"/>
          <p:cNvSpPr/>
          <p:nvPr/>
        </p:nvSpPr>
        <p:spPr>
          <a:xfrm>
            <a:off x="6675120" y="3621024"/>
            <a:ext cx="25146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6748272" y="3694176"/>
            <a:ext cx="310896" cy="310896"/>
          </a:xfrm>
          <a:prstGeom prst="ellipse">
            <a:avLst/>
          </a:prstGeom>
          <a:solidFill>
            <a:srgbClr val="E6F2F4"/>
          </a:solidFill>
          <a:ln w="12700">
            <a:solidFill>
              <a:srgbClr val="E6F2F4"/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2280" y="3758184"/>
            <a:ext cx="182880" cy="18288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7132320" y="362102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with AES-256 secret store</a:t>
            </a:r>
            <a:endParaRPr lang="en-US" sz="1050" dirty="0"/>
          </a:p>
        </p:txBody>
      </p:sp>
      <p:sp>
        <p:nvSpPr>
          <p:cNvPr id="34" name="Shape 25"/>
          <p:cNvSpPr/>
          <p:nvPr/>
        </p:nvSpPr>
        <p:spPr>
          <a:xfrm>
            <a:off x="9326880" y="3621024"/>
            <a:ext cx="25146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Shape 26"/>
          <p:cNvSpPr/>
          <p:nvPr/>
        </p:nvSpPr>
        <p:spPr>
          <a:xfrm>
            <a:off x="9400032" y="3694176"/>
            <a:ext cx="310896" cy="310896"/>
          </a:xfrm>
          <a:prstGeom prst="ellipse">
            <a:avLst/>
          </a:prstGeom>
          <a:solidFill>
            <a:srgbClr val="E6F2F4"/>
          </a:solidFill>
          <a:ln w="12700">
            <a:solidFill>
              <a:srgbClr val="E6F2F4"/>
            </a:solidFill>
            <a:prstDash val="solid"/>
          </a:ln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64040" y="3758184"/>
            <a:ext cx="182880" cy="182880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9784080" y="362102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Node + FastAPI analytics worker</a:t>
            </a:r>
            <a:endParaRPr lang="en-US" sz="1050" dirty="0"/>
          </a:p>
        </p:txBody>
      </p:sp>
      <p:sp>
        <p:nvSpPr>
          <p:cNvPr id="38" name="Text 2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FATHOM · Competitive Landscape · Apr 2026</a:t>
            </a:r>
            <a:endParaRPr lang="en-US" sz="900" dirty="0"/>
          </a:p>
        </p:txBody>
      </p:sp>
      <p:sp>
        <p:nvSpPr>
          <p:cNvPr id="39" name="Text 29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LANDSCAPE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FATHOM overlaps three mature product categories.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category has entrenched leaders. FATHOM's wedge is refusing to pick only one — and offering them together for teams that don't want three bills, three dashboards, and three onboarding flows.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365760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331720"/>
            <a:ext cx="91440" cy="3931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2651760"/>
            <a:ext cx="685800" cy="685800"/>
          </a:xfrm>
          <a:prstGeom prst="ellipse">
            <a:avLst/>
          </a:prstGeom>
          <a:solidFill>
            <a:srgbClr val="E6F2F4"/>
          </a:solidFill>
          <a:ln w="12700">
            <a:solidFill>
              <a:srgbClr val="E6F2F4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807208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3474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MONITORING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68680" y="388620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database telemetry — QPS, wait events, slow queries, replication lag, index bloat.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68680" y="5303520"/>
            <a:ext cx="30175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8680" y="53949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PLAYERS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68680" y="56235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Datadog DBM · pganalyze · Percona PMM · SolarWinds DPA · New Relic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389120" y="2331720"/>
            <a:ext cx="365760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389120" y="2331720"/>
            <a:ext cx="91440" cy="3931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709160" y="2651760"/>
            <a:ext cx="685800" cy="685800"/>
          </a:xfrm>
          <a:prstGeom prst="ellipse">
            <a:avLst/>
          </a:prstGeom>
          <a:solidFill>
            <a:srgbClr val="E6F2F4"/>
          </a:solidFill>
          <a:ln w="12700">
            <a:solidFill>
              <a:srgbClr val="E6F2F4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2807208"/>
            <a:ext cx="384048" cy="38404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709160" y="3474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ADMIN / GUI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709160" y="388620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exploration, query editors, data browsing. Usually a desktop client per engineer.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4709160" y="5303520"/>
            <a:ext cx="30175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709160" y="53949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PLAYERS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4709160" y="56235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DBeaver · pgAdmin · TablePlus · DataGrip · Navicat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8229600" y="2331720"/>
            <a:ext cx="365760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8229600" y="2331720"/>
            <a:ext cx="91440" cy="3931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549640" y="2651760"/>
            <a:ext cx="685800" cy="685800"/>
          </a:xfrm>
          <a:prstGeom prst="ellipse">
            <a:avLst/>
          </a:prstGeom>
          <a:solidFill>
            <a:srgbClr val="E6F2F4"/>
          </a:solidFill>
          <a:ln w="12700">
            <a:solidFill>
              <a:srgbClr val="E6F2F4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5088" y="2807208"/>
            <a:ext cx="384048" cy="38404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8549640" y="3474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OBSERVABILITY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8549640" y="388620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Traces, logs, and errors from application code. Ingested from SDKs and agents.</a:t>
            </a:r>
            <a:endParaRPr lang="en-US" sz="1400" dirty="0"/>
          </a:p>
        </p:txBody>
      </p:sp>
      <p:sp>
        <p:nvSpPr>
          <p:cNvPr id="30" name="Shape 25"/>
          <p:cNvSpPr/>
          <p:nvPr/>
        </p:nvSpPr>
        <p:spPr>
          <a:xfrm>
            <a:off x="8549640" y="5303520"/>
            <a:ext cx="30175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8549640" y="53949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PLAYERS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8549640" y="56235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Datadog APM · New Relic · Sentry · Honeycomb</a:t>
            </a:r>
            <a:endParaRPr lang="en-US" sz="1100" dirty="0"/>
          </a:p>
        </p:txBody>
      </p:sp>
      <p:sp>
        <p:nvSpPr>
          <p:cNvPr id="33" name="Text 2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FATHOM · Competitive Landscape · Apr 2026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FATHOM's capability surface today.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6576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365760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574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engines natively supported (Postgres, MySQL/MariaDB, MongoDB — plus Oracle via SDK)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80560" y="1828800"/>
            <a:ext cx="36576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1828800"/>
            <a:ext cx="365760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20574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4754880" y="29260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dashboard — no separate DB monitor, GUI, and log pipeline to stitch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412480" y="1828800"/>
            <a:ext cx="36576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0" y="1828800"/>
            <a:ext cx="365760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0" y="20574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3,500+</a:t>
            </a:r>
            <a:endParaRPr lang="en-US" sz="6000" dirty="0"/>
          </a:p>
        </p:txBody>
      </p:sp>
      <p:sp>
        <p:nvSpPr>
          <p:cNvPr id="16" name="Text 14"/>
          <p:cNvSpPr/>
          <p:nvPr/>
        </p:nvSpPr>
        <p:spPr>
          <a:xfrm>
            <a:off x="8686800" y="29260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 in the FATHOM SDK for customer-app log, error, and audit ingestion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2001" y="4023360"/>
            <a:ext cx="640080" cy="640080"/>
          </a:xfrm>
          <a:prstGeom prst="ellipse">
            <a:avLst/>
          </a:prstGeom>
          <a:solidFill>
            <a:srgbClr val="E6F2F4"/>
          </a:solidFill>
          <a:ln w="12700">
            <a:solidFill>
              <a:srgbClr val="E6F2F4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9161" y="4160520"/>
            <a:ext cx="365760" cy="36576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48640" y="4800600"/>
            <a:ext cx="13868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metrics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2308803" y="4023360"/>
            <a:ext cx="640080" cy="640080"/>
          </a:xfrm>
          <a:prstGeom prst="ellipse">
            <a:avLst/>
          </a:prstGeom>
          <a:solidFill>
            <a:srgbClr val="E6F2F4"/>
          </a:solidFill>
          <a:ln w="12700">
            <a:solidFill>
              <a:srgbClr val="E6F2F4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5963" y="4160520"/>
            <a:ext cx="365760" cy="36576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935442" y="4800600"/>
            <a:ext cx="13868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alerts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3695605" y="4023360"/>
            <a:ext cx="640080" cy="640080"/>
          </a:xfrm>
          <a:prstGeom prst="ellipse">
            <a:avLst/>
          </a:prstGeom>
          <a:solidFill>
            <a:srgbClr val="E6F2F4"/>
          </a:solidFill>
          <a:ln w="12700">
            <a:solidFill>
              <a:srgbClr val="E6F2F4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2765" y="4160520"/>
            <a:ext cx="365760" cy="36576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3322244" y="4800600"/>
            <a:ext cx="13868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explorer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5082407" y="4023360"/>
            <a:ext cx="640080" cy="640080"/>
          </a:xfrm>
          <a:prstGeom prst="ellipse">
            <a:avLst/>
          </a:prstGeom>
          <a:solidFill>
            <a:srgbClr val="E6F2F4"/>
          </a:solidFill>
          <a:ln w="12700">
            <a:solidFill>
              <a:srgbClr val="E6F2F4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9567" y="4160520"/>
            <a:ext cx="365760" cy="36576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4709046" y="4800600"/>
            <a:ext cx="13868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log ingest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6469209" y="4023360"/>
            <a:ext cx="640080" cy="640080"/>
          </a:xfrm>
          <a:prstGeom prst="ellipse">
            <a:avLst/>
          </a:prstGeom>
          <a:solidFill>
            <a:srgbClr val="E6F2F4"/>
          </a:solidFill>
          <a:ln w="12700">
            <a:solidFill>
              <a:srgbClr val="E6F2F4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6369" y="4160520"/>
            <a:ext cx="365760" cy="36576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095848" y="4800600"/>
            <a:ext cx="13868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auth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7856010" y="4023360"/>
            <a:ext cx="640080" cy="640080"/>
          </a:xfrm>
          <a:prstGeom prst="ellipse">
            <a:avLst/>
          </a:prstGeom>
          <a:solidFill>
            <a:srgbClr val="E6F2F4"/>
          </a:solidFill>
          <a:ln w="12700">
            <a:solidFill>
              <a:srgbClr val="E6F2F4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93170" y="4160520"/>
            <a:ext cx="365760" cy="36576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7482650" y="4800600"/>
            <a:ext cx="13868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secrets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9242812" y="4023360"/>
            <a:ext cx="640080" cy="640080"/>
          </a:xfrm>
          <a:prstGeom prst="ellipse">
            <a:avLst/>
          </a:prstGeom>
          <a:solidFill>
            <a:srgbClr val="E6F2F4"/>
          </a:solidFill>
          <a:ln w="12700">
            <a:solidFill>
              <a:srgbClr val="E6F2F4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9972" y="4160520"/>
            <a:ext cx="365760" cy="36576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8869451" y="4800600"/>
            <a:ext cx="13868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ML worker</a:t>
            </a:r>
            <a:endParaRPr lang="en-US" sz="1100" dirty="0"/>
          </a:p>
        </p:txBody>
      </p:sp>
      <p:sp>
        <p:nvSpPr>
          <p:cNvPr id="38" name="Shape 29"/>
          <p:cNvSpPr/>
          <p:nvPr/>
        </p:nvSpPr>
        <p:spPr>
          <a:xfrm>
            <a:off x="10629614" y="4023360"/>
            <a:ext cx="640080" cy="640080"/>
          </a:xfrm>
          <a:prstGeom prst="ellipse">
            <a:avLst/>
          </a:prstGeom>
          <a:solidFill>
            <a:srgbClr val="E6F2F4"/>
          </a:solidFill>
          <a:ln w="12700">
            <a:solidFill>
              <a:srgbClr val="E6F2F4"/>
            </a:solidFill>
            <a:prstDash val="solid"/>
          </a:ln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66774" y="4160520"/>
            <a:ext cx="365760" cy="365760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10256253" y="4800600"/>
            <a:ext cx="13868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connectors</a:t>
            </a:r>
            <a:endParaRPr lang="en-US" sz="1100" dirty="0"/>
          </a:p>
        </p:txBody>
      </p:sp>
      <p:sp>
        <p:nvSpPr>
          <p:cNvPr id="41" name="Text 31"/>
          <p:cNvSpPr/>
          <p:nvPr/>
        </p:nvSpPr>
        <p:spPr>
          <a:xfrm>
            <a:off x="548640" y="58521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React 19 + Vite SPA · Node 22 / Express 5 + WebSockets · FastAPI analytics worker · Postgres control plane · Vercel + Railway/Fly split-deploy.</a:t>
            </a:r>
            <a:endParaRPr lang="en-US" sz="1100" dirty="0"/>
          </a:p>
        </p:txBody>
      </p:sp>
      <p:sp>
        <p:nvSpPr>
          <p:cNvPr id="42" name="Text 3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FATHOM · Competitive Landscape · Apr 2026</a:t>
            </a:r>
            <a:endParaRPr lang="en-US" sz="900" dirty="0"/>
          </a:p>
        </p:txBody>
      </p:sp>
      <p:sp>
        <p:nvSpPr>
          <p:cNvPr id="43" name="Text 3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1 of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43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FATHOM vs. DB monitoring tools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Datadog DBM, pganalyze, Percona PMM, SolarWinds DPA, New Relic — the deep-DB-telemetry category.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65960"/>
          <a:ext cx="1127729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834835"/>
                <a:gridCol w="1834835"/>
                <a:gridCol w="1834835"/>
                <a:gridCol w="1834835"/>
                <a:gridCol w="1834835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FATHOM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Datadog DBM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pganalyze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Percona PMM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SolarWinds DPA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metrics (QPS, latency)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(deep)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 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Multi-engine (PG/MySQL/Mongo)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(native)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(PG only)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 + MySQL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PG/MySQL/Oracle/SQLServer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 plan analysis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Best-in-class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 + data browser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 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Built-in query editor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(CodeMirror)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Alerting &amp; scheduled monitor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(built-in)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log / error ingest (SDK)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 product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Multi-tenant SaaS design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Self-host primary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Self-host / hybrid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price point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 (early / flex)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$$$$ (enterprise)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$$$ per DB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OSS / $$ support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$$$ per instance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Mid-market, multi-DB, SDK+DB in 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enterprise, Datadog shops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Postgres-first teams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Cost-sensitive, self-host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SQL-heavy enterprises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FATHOM · Competitive Landscape · Apr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2 of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43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FATHOM vs. DB admin &amp; GUI tools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DBeaver, pgAdmin, TablePlus, DataGrip, Navicat — the per-seat desktop clients engineers already have.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65960"/>
          <a:ext cx="1127729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834835"/>
                <a:gridCol w="1834835"/>
                <a:gridCol w="1834835"/>
                <a:gridCol w="1834835"/>
                <a:gridCol w="1834835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FATHOM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DBeaver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pgAdmin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TablePlus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DataGrip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 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SaaS / multi-tenant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Desktop app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Desktop / web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Desktop app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Desktop (JetBrains)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 + table browser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(rich)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(polished)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(rich)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query editor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(CodeMirror)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(best-in-class)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metrics / health dashboards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Alerting on DB health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Team-wide audit of queries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(multi-tenant)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Credential-vaulting (AES-256)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(server-side)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keychain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/ iCloud sync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/ IDE sync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log &amp; error streaming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price point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 per org (SaaS)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OSS / $$ Pro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OSS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$$ per seat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$$$ per seat (JetBrains)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Teams wanting central ops + GUI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users, multi-DB desktop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 DBAs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Mac-first engineers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JetBrains ecosystem users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FATHOM · Competitive Landscape · Apr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3 of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43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FATHOM vs. APM &amp; observability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Datadog APM, New Relic, Sentry, Honeycomb — where the SDK / log-ingest angle competes.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65960"/>
          <a:ext cx="1127729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834835"/>
                <a:gridCol w="1834835"/>
                <a:gridCol w="1834835"/>
                <a:gridCol w="1834835"/>
                <a:gridCol w="1834835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FATHOM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Datadog APM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Relic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Honeycomb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SDK for app log/error ingest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(zero-dep JS)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(multi-lang)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(multi-lang)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(best-in-class for errors)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(traces-first)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Distributed tracing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yet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(core strength)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error grouping / replay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Best-in-class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 metrics &amp; admin in same pane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 (DBM add-on)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 product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 / runtime coverage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JS-first (+REST)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broad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broad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broad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Retention &amp; cardinality at scale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(pricy)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for errors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 (events)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 routing (PagerDuty, Slack)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+ cron hook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integrations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integrations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integrations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integrations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price point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 (early / flex)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$$$$ (usage-based)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$$$ (user + data)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$$ (events / seats)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$$$ (events)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Teams fusing DB ops + app logs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full-stack obs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Full-stack obs, dev-time focus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tracking / frontend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High-cardinality debugging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FATHOM · Competitive Landscape · Apr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FATHOM wins.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situations where FATHOM beats incumbents — not "overall best," but "the better choice for this buyer."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365760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011680"/>
            <a:ext cx="365760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286000"/>
            <a:ext cx="502920" cy="502920"/>
          </a:xfrm>
          <a:prstGeom prst="ellipse">
            <a:avLst/>
          </a:prstGeom>
          <a:solidFill>
            <a:srgbClr val="D7EFE9"/>
          </a:solidFill>
          <a:ln w="12700">
            <a:solidFill>
              <a:srgbClr val="D7EFE9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395728"/>
            <a:ext cx="29260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63040" y="22860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dashboard, not three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" y="288036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currently paying for a DB monitor + a GUI client + an APM vendor can collapse three tools into one. Less glue, fewer bills, one mental model.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389120" y="2011680"/>
            <a:ext cx="365760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389120" y="2011680"/>
            <a:ext cx="365760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63440" y="2286000"/>
            <a:ext cx="502920" cy="502920"/>
          </a:xfrm>
          <a:prstGeom prst="ellipse">
            <a:avLst/>
          </a:prstGeom>
          <a:solidFill>
            <a:srgbClr val="D7EFE9"/>
          </a:solidFill>
          <a:ln w="12700">
            <a:solidFill>
              <a:srgbClr val="D7EFE9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2395728"/>
            <a:ext cx="292608" cy="29260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03520" y="22860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Multi-DB, day one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663440" y="288036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Postgres, MySQL/MariaDB, and MongoDB. pganalyze is Postgres-only; pgAdmin is Postgres-only; most premium monitors charge per engine.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229600" y="2011680"/>
            <a:ext cx="365760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229600" y="2011680"/>
            <a:ext cx="365760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503920" y="2286000"/>
            <a:ext cx="502920" cy="502920"/>
          </a:xfrm>
          <a:prstGeom prst="ellipse">
            <a:avLst/>
          </a:prstGeom>
          <a:solidFill>
            <a:srgbClr val="D7EFE9"/>
          </a:solidFill>
          <a:ln w="12700">
            <a:solidFill>
              <a:srgbClr val="D7EFE9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2395728"/>
            <a:ext cx="292608" cy="29260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144000" y="22860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logs + DB metrics, same pane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8503920" y="288036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FATHOM SDK streams customer-app logs/errors/audits next to DB metrics — so a spike in 5xx and the slow query causing it sit on the same screen.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548640" y="4114800"/>
            <a:ext cx="365760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548640" y="4114800"/>
            <a:ext cx="365760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822960" y="4389120"/>
            <a:ext cx="502920" cy="502920"/>
          </a:xfrm>
          <a:prstGeom prst="ellipse">
            <a:avLst/>
          </a:prstGeom>
          <a:solidFill>
            <a:srgbClr val="D7EFE9"/>
          </a:solidFill>
          <a:ln w="12700">
            <a:solidFill>
              <a:srgbClr val="D7EFE9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4498848"/>
            <a:ext cx="292608" cy="29260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463040" y="4389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by design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822960" y="498348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 secret store, per-tenant isolation, shared admin plane. Desktop GUIs (DBeaver, TablePlus, DataGrip) can't offer team-wide audit or central access control.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4389120" y="4114800"/>
            <a:ext cx="365760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4389120" y="4114800"/>
            <a:ext cx="365760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4663440" y="4389120"/>
            <a:ext cx="502920" cy="502920"/>
          </a:xfrm>
          <a:prstGeom prst="ellipse">
            <a:avLst/>
          </a:prstGeom>
          <a:solidFill>
            <a:srgbClr val="D7EFE9"/>
          </a:solidFill>
          <a:ln w="12700">
            <a:solidFill>
              <a:srgbClr val="D7EFE9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168" y="4498848"/>
            <a:ext cx="292608" cy="292608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5303520" y="4389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Price-accessible</a:t>
            </a:r>
            <a:endParaRPr lang="en-US" sz="1400" dirty="0"/>
          </a:p>
        </p:txBody>
      </p:sp>
      <p:sp>
        <p:nvSpPr>
          <p:cNvPr id="35" name="Text 28"/>
          <p:cNvSpPr/>
          <p:nvPr/>
        </p:nvSpPr>
        <p:spPr>
          <a:xfrm>
            <a:off x="4663440" y="498348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Datadog DBM and DataGrip are priced for the Fortune 500. FATHOM targets mid-market and growth-stage teams priced out of incumbents.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8229600" y="4114800"/>
            <a:ext cx="365760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8229600" y="4114800"/>
            <a:ext cx="365760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8503920" y="4389120"/>
            <a:ext cx="502920" cy="502920"/>
          </a:xfrm>
          <a:prstGeom prst="ellipse">
            <a:avLst/>
          </a:prstGeom>
          <a:solidFill>
            <a:srgbClr val="D7EFE9"/>
          </a:solidFill>
          <a:ln w="12700">
            <a:solidFill>
              <a:srgbClr val="D7EFE9"/>
            </a:solidFill>
            <a:prstDash val="solid"/>
          </a:ln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3648" y="4498848"/>
            <a:ext cx="292608" cy="292608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9144000" y="4389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Embeddable SaaS connectors</a:t>
            </a:r>
            <a:endParaRPr lang="en-US" sz="1400" dirty="0"/>
          </a:p>
        </p:txBody>
      </p:sp>
      <p:sp>
        <p:nvSpPr>
          <p:cNvPr id="41" name="Text 33"/>
          <p:cNvSpPr/>
          <p:nvPr/>
        </p:nvSpPr>
        <p:spPr>
          <a:xfrm>
            <a:off x="8503920" y="498348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Salesforce and MuleSoft connectors let ops teams pull iPaaS signals in — a combination you won't find in DBeaver, pganalyze, or Sentry.</a:t>
            </a:r>
            <a:endParaRPr lang="en-US" sz="1100" dirty="0"/>
          </a:p>
        </p:txBody>
      </p:sp>
      <p:sp>
        <p:nvSpPr>
          <p:cNvPr id="42" name="Text 3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FATHOM · Competitive Landscape · Apr 2026</a:t>
            </a:r>
            <a:endParaRPr lang="en-US" sz="900" dirty="0"/>
          </a:p>
        </p:txBody>
      </p:sp>
      <p:sp>
        <p:nvSpPr>
          <p:cNvPr id="43" name="Text 3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GAPS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incumbents still win.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unified isn't free — here's where a single-category specialist is the right tool for the job today.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365760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011680"/>
            <a:ext cx="3657600" cy="7315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286000"/>
            <a:ext cx="502920" cy="502920"/>
          </a:xfrm>
          <a:prstGeom prst="ellipse">
            <a:avLst/>
          </a:prstGeom>
          <a:solidFill>
            <a:srgbClr val="FBE5D6"/>
          </a:solidFill>
          <a:ln w="12700">
            <a:solidFill>
              <a:srgbClr val="FBE5D6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395728"/>
            <a:ext cx="29260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63040" y="22860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distributed tracing yet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" y="288036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Datadog APM, New Relic, and Honeycomb all offer full trace trees across microservices. FATHOM SDK today handles logs / errors / audits — not spans.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389120" y="2011680"/>
            <a:ext cx="365760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389120" y="2011680"/>
            <a:ext cx="3657600" cy="7315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63440" y="2286000"/>
            <a:ext cx="502920" cy="502920"/>
          </a:xfrm>
          <a:prstGeom prst="ellipse">
            <a:avLst/>
          </a:prstGeom>
          <a:solidFill>
            <a:srgbClr val="FBE5D6"/>
          </a:solidFill>
          <a:ln w="12700">
            <a:solidFill>
              <a:srgbClr val="FBE5D6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2395728"/>
            <a:ext cx="292608" cy="29260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03520" y="22860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Query-plan depth vs. pganalyze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663440" y="288036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pganalyze does index advisor, plan diffing, and vacuum monitoring at a depth FATHOM hasn't matched. Postgres-specialist teams will still reach for it.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229600" y="2011680"/>
            <a:ext cx="365760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229600" y="2011680"/>
            <a:ext cx="3657600" cy="7315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503920" y="2286000"/>
            <a:ext cx="502920" cy="502920"/>
          </a:xfrm>
          <a:prstGeom prst="ellipse">
            <a:avLst/>
          </a:prstGeom>
          <a:solidFill>
            <a:srgbClr val="FBE5D6"/>
          </a:solidFill>
          <a:ln w="12700">
            <a:solidFill>
              <a:srgbClr val="FBE5D6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2395728"/>
            <a:ext cx="292608" cy="29260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144000" y="22860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GUI polish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8503920" y="288036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TablePlus and DataGrip have years of UX polish for power users — multi-tab sessions, diffs, refactors. FATHOM's browser editor is capable, not yet equal.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548640" y="4114800"/>
            <a:ext cx="365760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548640" y="4114800"/>
            <a:ext cx="3657600" cy="7315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822960" y="4389120"/>
            <a:ext cx="502920" cy="502920"/>
          </a:xfrm>
          <a:prstGeom prst="ellipse">
            <a:avLst/>
          </a:prstGeom>
          <a:solidFill>
            <a:srgbClr val="FBE5D6"/>
          </a:solidFill>
          <a:ln w="12700">
            <a:solidFill>
              <a:srgbClr val="FBE5D6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4498848"/>
            <a:ext cx="292608" cy="29260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463040" y="4389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breadth of SDK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822960" y="498348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Datadog and Sentry ship agents for ~15 languages. FATHOM's SDK is JS-first; Python / Go / Java customers need a REST fallback for now.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4389120" y="4114800"/>
            <a:ext cx="365760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4389120" y="4114800"/>
            <a:ext cx="3657600" cy="7315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4663440" y="4389120"/>
            <a:ext cx="502920" cy="502920"/>
          </a:xfrm>
          <a:prstGeom prst="ellipse">
            <a:avLst/>
          </a:prstGeom>
          <a:solidFill>
            <a:srgbClr val="FBE5D6"/>
          </a:solidFill>
          <a:ln w="12700">
            <a:solidFill>
              <a:srgbClr val="FBE5D6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168" y="4498848"/>
            <a:ext cx="292608" cy="292608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5303520" y="4389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ecosystem</a:t>
            </a:r>
            <a:endParaRPr lang="en-US" sz="1400" dirty="0"/>
          </a:p>
        </p:txBody>
      </p:sp>
      <p:sp>
        <p:nvSpPr>
          <p:cNvPr id="35" name="Text 28"/>
          <p:cNvSpPr/>
          <p:nvPr/>
        </p:nvSpPr>
        <p:spPr>
          <a:xfrm>
            <a:off x="4663440" y="498348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PagerDuty, Opsgenie, Slack, Teams, Jira — incumbents have hundreds of native integrations. FATHOM's alert fan-out is still email + cron hook primary.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8229600" y="4114800"/>
            <a:ext cx="365760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8229600" y="4114800"/>
            <a:ext cx="3657600" cy="7315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8503920" y="4389120"/>
            <a:ext cx="502920" cy="502920"/>
          </a:xfrm>
          <a:prstGeom prst="ellipse">
            <a:avLst/>
          </a:prstGeom>
          <a:solidFill>
            <a:srgbClr val="FBE5D6"/>
          </a:solidFill>
          <a:ln w="12700">
            <a:solidFill>
              <a:srgbClr val="FBE5D6"/>
            </a:solidFill>
            <a:prstDash val="solid"/>
          </a:ln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3648" y="4498848"/>
            <a:ext cx="292608" cy="292608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9144000" y="4389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&amp; trust at enterprise</a:t>
            </a:r>
            <a:endParaRPr lang="en-US" sz="1400" dirty="0"/>
          </a:p>
        </p:txBody>
      </p:sp>
      <p:sp>
        <p:nvSpPr>
          <p:cNvPr id="41" name="Text 33"/>
          <p:cNvSpPr/>
          <p:nvPr/>
        </p:nvSpPr>
        <p:spPr>
          <a:xfrm>
            <a:off x="8503920" y="498348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procurement, and SOC2 posture at Datadog / New Relic / JetBrains are battle-tested. FATHOM's SOC2 path is in-flight (see controls checklist).</a:t>
            </a:r>
            <a:endParaRPr lang="en-US" sz="1100" dirty="0"/>
          </a:p>
        </p:txBody>
      </p:sp>
      <p:sp>
        <p:nvSpPr>
          <p:cNvPr id="42" name="Text 3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FATHOM · Competitive Landscape · Apr 2026</a:t>
            </a:r>
            <a:endParaRPr lang="en-US" sz="900" dirty="0"/>
          </a:p>
        </p:txBody>
      </p:sp>
      <p:sp>
        <p:nvSpPr>
          <p:cNvPr id="43" name="Text 35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Priced to land mid-market teams incumbents overlook.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relative cost per organization per month (lower = more accessible). Exact numbers vary by tier and usage.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2057400"/>
          <a:ext cx="68580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680960" y="2103120"/>
            <a:ext cx="40233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680960" y="2103120"/>
            <a:ext cx="73152" cy="12801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0" y="2194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FATHOM IS FOR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863840" y="246888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Mid-market &amp; growth-stage teams with 3–50 engineers running Postgres/MySQL/Mongo who want monitoring + GUI + app logs without stitching three vendors.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680960" y="3520440"/>
            <a:ext cx="40233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680960" y="3520440"/>
            <a:ext cx="73152" cy="12801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863840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SHOULD KEEP INCUMBENTS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863840" y="38862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Fortune-500 SREs on a Datadog standard, Postgres-specialist teams needing pganalyze depth, or IDE-heavy devs who live in DataGrip.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680960" y="4937760"/>
            <a:ext cx="40233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680960" y="4937760"/>
            <a:ext cx="73152" cy="12801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863840" y="5029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WEDGE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863840" y="53035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 three bills into one; be the tool a team adopts at 10 engineers and keeps at 100.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FATHOM · Competitive Landscape · Apr 2026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TAKEAWAY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FATHOM doesn't beat any one incumbent on their home field. It competes by changing the field.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4114800"/>
            <a:ext cx="3566160" cy="2103120"/>
          </a:xfrm>
          <a:prstGeom prst="rect">
            <a:avLst/>
          </a:prstGeom>
          <a:solidFill>
            <a:srgbClr val="0A2540">
              <a:alpha val="7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4114800"/>
            <a:ext cx="356616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4297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OUT-FEATURE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475488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trying to match Datadog on tracing or pganalyze on plan analysis. The matrix will never look favorable on a per-category basis.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4114800"/>
            <a:ext cx="3566160" cy="2103120"/>
          </a:xfrm>
          <a:prstGeom prst="rect">
            <a:avLst/>
          </a:prstGeom>
          <a:solidFill>
            <a:srgbClr val="0A2540">
              <a:alpha val="7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4114800"/>
            <a:ext cx="356616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4297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OUT-INTEGRATE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475488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buyer FATHOM wins is the one tired of paying three vendors and stitching three dashboards. Lean into unification, not category depth.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321040" y="4114800"/>
            <a:ext cx="3566160" cy="2103120"/>
          </a:xfrm>
          <a:prstGeom prst="rect">
            <a:avLst/>
          </a:prstGeom>
          <a:solidFill>
            <a:srgbClr val="0A2540">
              <a:alpha val="7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21040" y="4114800"/>
            <a:ext cx="356616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49640" y="4297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ENTERPRISE TRUST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549640" y="475488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SOC2 checklist, expand SDK language coverage, add PagerDuty / Slack / Jira. These gaps close the 'but my CISO…' objection.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64008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FATHOM · Competitive Landscape · April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FATHOM vs. the Market</dc:title>
  <dc:subject>PptxGenJS Presentation</dc:subject>
  <dc:creator>FATHOM</dc:creator>
  <cp:lastModifiedBy>FATHOM</cp:lastModifiedBy>
  <cp:revision>1</cp:revision>
  <dcterms:created xsi:type="dcterms:W3CDTF">2026-04-22T04:14:26Z</dcterms:created>
  <dcterms:modified xsi:type="dcterms:W3CDTF">2026-04-22T04:14:26Z</dcterms:modified>
</cp:coreProperties>
</file>